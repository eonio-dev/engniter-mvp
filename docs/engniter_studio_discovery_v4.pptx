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8" name="Google Shape;8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430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7373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3317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9260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7091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8978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2753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1430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7373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23317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29260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5204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41148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7091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3035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8978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0866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2753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86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1430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7373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23317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29260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5204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7091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58978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0866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6809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1430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7373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3317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5204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1148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7091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3035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8978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0866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2753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486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1430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7373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3317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9260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5204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1148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7091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8978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0866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6809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2753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1430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7373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3317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9260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5204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7091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3035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8978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2753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02920" y="502920"/>
            <a:ext cx="2194560" cy="292608"/>
          </a:xfrm>
          <a:prstGeom prst="roundRect">
            <a:avLst>
              <a:gd fmla="val 15625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02920" y="50292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ENGNITER STUDIO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02920" y="91440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right artifact.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right role.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right moment.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02920" y="30175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 conversation about how you work — and what we are building for you.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502920" y="382219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502920" y="397764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2025  ·  Early access — your input shapes this product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132320" y="457200"/>
            <a:ext cx="1463040" cy="502920"/>
          </a:xfrm>
          <a:prstGeom prst="rect">
            <a:avLst/>
          </a:prstGeom>
          <a:solidFill>
            <a:srgbClr val="1C3A4A">
              <a:alpha val="74901"/>
            </a:srgbClr>
          </a:solidFill>
          <a:ln cap="flat" cmpd="sng" w="12700">
            <a:solidFill>
              <a:srgbClr val="1C3A4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7132320" y="1024128"/>
            <a:ext cx="1737360" cy="502920"/>
          </a:xfrm>
          <a:prstGeom prst="rect">
            <a:avLst/>
          </a:prstGeom>
          <a:solidFill>
            <a:srgbClr val="028090">
              <a:alpha val="74901"/>
            </a:srgbClr>
          </a:solidFill>
          <a:ln cap="flat" cmpd="sng" w="12700">
            <a:solidFill>
              <a:srgbClr val="028090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132320" y="1591056"/>
            <a:ext cx="1280160" cy="502920"/>
          </a:xfrm>
          <a:prstGeom prst="rect">
            <a:avLst/>
          </a:prstGeom>
          <a:solidFill>
            <a:srgbClr val="1C3A4A">
              <a:alpha val="74901"/>
            </a:srgbClr>
          </a:solidFill>
          <a:ln cap="flat" cmpd="sng" w="12700">
            <a:solidFill>
              <a:srgbClr val="1C3A4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132320" y="2157984"/>
            <a:ext cx="1828800" cy="502920"/>
          </a:xfrm>
          <a:prstGeom prst="rect">
            <a:avLst/>
          </a:prstGeom>
          <a:solidFill>
            <a:srgbClr val="0F4C5C">
              <a:alpha val="74901"/>
            </a:srgbClr>
          </a:solidFill>
          <a:ln cap="flat" cmpd="sng" w="12700">
            <a:solidFill>
              <a:srgbClr val="0F4C5C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132320" y="2724912"/>
            <a:ext cx="1554480" cy="502920"/>
          </a:xfrm>
          <a:prstGeom prst="rect">
            <a:avLst/>
          </a:prstGeom>
          <a:solidFill>
            <a:srgbClr val="1C3A4A">
              <a:alpha val="74901"/>
            </a:srgbClr>
          </a:solidFill>
          <a:ln cap="flat" cmpd="sng" w="12700">
            <a:solidFill>
              <a:srgbClr val="1C3A4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132320" y="3291840"/>
            <a:ext cx="1371600" cy="502920"/>
          </a:xfrm>
          <a:prstGeom prst="rect">
            <a:avLst/>
          </a:prstGeom>
          <a:solidFill>
            <a:srgbClr val="02C39A">
              <a:alpha val="74901"/>
            </a:srgbClr>
          </a:solidFill>
          <a:ln cap="flat" cmpd="sng" w="12700">
            <a:solidFill>
              <a:srgbClr val="02C39A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Sound familiar?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Things we keep hearing from pre-sales engineers and solution architects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92608" y="1261872"/>
            <a:ext cx="2743200" cy="32004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92608" y="1261872"/>
            <a:ext cx="27432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75488" y="1463040"/>
            <a:ext cx="23957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 spend two days writing the same sections over and over -- requirements, risks, open questions. Every proposal from scratch.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75488" y="4041648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-- Pre-Sales Engineer, Software Consultancy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36976" y="1261872"/>
            <a:ext cx="2743200" cy="32004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236976" y="1261872"/>
            <a:ext cx="2743200" cy="10972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419856" y="1463040"/>
            <a:ext cx="23957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When I hand over the proposal to delivery, half the context is already lost. They end up re-discovering what I already figured 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419856" y="4041648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-- Solution Architect, Systems Integrator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81344" y="1261872"/>
            <a:ext cx="2743200" cy="32004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181344" y="1261872"/>
            <a:ext cx="2743200" cy="1097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364224" y="1463040"/>
            <a:ext cx="23957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 use ChatGPT to get a draft going, but I have no idea what it made up vs. what is actually in the RFP. I have to fact-check everything.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364224" y="4041648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-- Technical Consultant, Independent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5486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1430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7373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3317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9260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7091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8978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2753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1430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17373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3317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29260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5204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1148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7091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3035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8978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70866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2753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5486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1430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17373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3317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9260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5204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7091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58978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0866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76809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1430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17373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23317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35204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1148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47091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53035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58978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70866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82753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486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1430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17373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23317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29260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35204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1148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47091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58978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70866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76809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753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11430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17373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23317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29260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5204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47091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53035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8978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82753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does your proposal time actually go?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02920" y="96012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60-80%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02920" y="2578608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of proposal time is structural writing,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not strategic thinking.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02920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 the time goes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5029200" y="1261872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Structuring documents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029200" y="1517904"/>
            <a:ext cx="3474720" cy="182880"/>
          </a:xfrm>
          <a:prstGeom prst="rect">
            <a:avLst/>
          </a:prstGeom>
          <a:solidFill>
            <a:srgbClr val="1C3A4A"/>
          </a:solidFill>
          <a:ln cap="flat" cmpd="sng" w="12700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029200" y="1517904"/>
            <a:ext cx="1042416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6144768" y="14996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5029200" y="192024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Extracting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5029200" y="2176272"/>
            <a:ext cx="3474720" cy="182880"/>
          </a:xfrm>
          <a:prstGeom prst="rect">
            <a:avLst/>
          </a:prstGeom>
          <a:solidFill>
            <a:srgbClr val="1C3A4A"/>
          </a:solidFill>
          <a:ln cap="flat" cmpd="sng" w="12700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5029200" y="2176272"/>
            <a:ext cx="764438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5866790" y="215798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5029200" y="257860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Writing risk sections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5029200" y="2834640"/>
            <a:ext cx="3474720" cy="182880"/>
          </a:xfrm>
          <a:prstGeom prst="rect">
            <a:avLst/>
          </a:prstGeom>
          <a:solidFill>
            <a:srgbClr val="1C3A4A"/>
          </a:solidFill>
          <a:ln cap="flat" cmpd="sng" w="12700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5029200" y="2834640"/>
            <a:ext cx="62545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5727802" y="28163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029200" y="3236976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Formatting and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029200" y="3493008"/>
            <a:ext cx="3474720" cy="182880"/>
          </a:xfrm>
          <a:prstGeom prst="rect">
            <a:avLst/>
          </a:prstGeom>
          <a:solidFill>
            <a:srgbClr val="1C3A4A"/>
          </a:solidFill>
          <a:ln cap="flat" cmpd="sng" w="12700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5029200" y="3493008"/>
            <a:ext cx="416966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5519318" y="34747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5029200" y="389534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Actual strategic thinking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029200" y="4151376"/>
            <a:ext cx="3474720" cy="182880"/>
          </a:xfrm>
          <a:prstGeom prst="rect">
            <a:avLst/>
          </a:prstGeom>
          <a:solidFill>
            <a:srgbClr val="1C3A4A"/>
          </a:solidFill>
          <a:ln cap="flat" cmpd="sng" w="12700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5029200" y="4151376"/>
            <a:ext cx="625450" cy="1828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5727802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goal is not to replace your thinking. It is to eliminate the 60-80%.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is Engniter Studio?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 AI documentation workbench for pre-sales engineering and solution architecture. Not a document factory.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11480" y="1152144"/>
            <a:ext cx="1920240" cy="256032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411480" y="1152144"/>
            <a:ext cx="192024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411480" y="115214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39496" y="1792224"/>
            <a:ext cx="1664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Upload inputs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539496" y="2212848"/>
            <a:ext cx="1664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RFPs, meeting notes,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discovery docs, sales notes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2331720" y="228600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2560320" y="1152144"/>
            <a:ext cx="1920240" cy="256032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2560320" y="1152144"/>
            <a:ext cx="1920240" cy="50292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2560320" y="115214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688336" y="1792224"/>
            <a:ext cx="1664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688336" y="2212848"/>
            <a:ext cx="1664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Requirements, risks,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assumptions extracted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4480560" y="228600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709160" y="1152144"/>
            <a:ext cx="1920240" cy="256032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4709160" y="1152144"/>
            <a:ext cx="1920240" cy="5029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4709160" y="115214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4837176" y="1792224"/>
            <a:ext cx="1664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You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837176" y="2212848"/>
            <a:ext cx="1664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Draft in sandbox.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Approve or reject.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6629400" y="228600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6858000" y="1152144"/>
            <a:ext cx="1920240" cy="256032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6858000" y="1152144"/>
            <a:ext cx="192024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6858000" y="115214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6986016" y="1792224"/>
            <a:ext cx="1664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Export and 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6986016" y="2212848"/>
            <a:ext cx="1664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PRD, SOW draft,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architecture docs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11480" y="3931920"/>
            <a:ext cx="8321040" cy="86868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594360" y="400507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Workbench, not factory: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2331720" y="4005072"/>
            <a:ext cx="6217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 choose which artifacts to generate based on your role and where you are in the project. A pre-sales engineer preparing a proposal sees different defaults than a solution architect documenting a live system.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It adapts to who you are and where you 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Select your role and project stage. The platform recommends the right artifacts and skips the ones you don't need.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11480" y="11521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YOUR 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11480" y="1463040"/>
            <a:ext cx="3840480" cy="89611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709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7"/>
          <p:cNvSpPr/>
          <p:nvPr/>
        </p:nvSpPr>
        <p:spPr>
          <a:xfrm>
            <a:off x="1143000" y="157276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Pre-Sales Engineer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1143000" y="19019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RFP Analysis  ·  Requirements  ·  PRD  ·  SOW Draft  ·  Executive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11480" y="2523744"/>
            <a:ext cx="3840480" cy="89611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548640" y="2706624"/>
            <a:ext cx="457200" cy="457200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770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/>
          <p:nvPr/>
        </p:nvSpPr>
        <p:spPr>
          <a:xfrm>
            <a:off x="1143000" y="263347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Solution Architect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1143000" y="2962656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Architecture Overview  ·  NFRs  ·  ADR Candidates  ·  C4 Model  ·  Risks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892040" y="11521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PROJECT STAGE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892040" y="1463040"/>
            <a:ext cx="3840480" cy="59436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892040" y="1463040"/>
            <a:ext cx="64008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5047488" y="151790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pre_sales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5047488" y="175564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RFP analysis, proposal prep, decision meeting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892040" y="2167128"/>
            <a:ext cx="3840480" cy="59436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4892040" y="2167128"/>
            <a:ext cx="64008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5047488" y="222199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sold_project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5047488" y="245973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Architecture docs, ADRs, delivery planning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4892040" y="2871216"/>
            <a:ext cx="3840480" cy="59436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4892040" y="2871216"/>
            <a:ext cx="64008" cy="5943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5047488" y="292608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handover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5047488" y="316382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Documentation, knowledge transfer, closure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411480" y="4005072"/>
            <a:ext cx="8321040" cy="749808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594360" y="4069080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 more generating 12 documents when you need 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594360" y="435254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Choose a bundle or select exactly the artifacts you want. The workflow generates only what you confirm.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Designed around three principles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Because AI tools that hide uncertainty or silently modify your work are not safe to use with clients.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292608" y="1170432"/>
            <a:ext cx="2743200" cy="354787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75488" y="1298448"/>
            <a:ext cx="502920" cy="502920"/>
          </a:xfrm>
          <a:prstGeom prst="ellipse">
            <a:avLst/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68" y="13624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8"/>
          <p:cNvSpPr/>
          <p:nvPr/>
        </p:nvSpPr>
        <p:spPr>
          <a:xfrm>
            <a:off x="1097280" y="13716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Traceability first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57200" y="1920240"/>
            <a:ext cx="242316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Every requirement, risk, or SOW clause in a generated artifact links back to the exact source chunk it came from. You always know why a claim was made.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84048" y="3566160"/>
            <a:ext cx="2578608" cy="914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93776" y="36210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discussion: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93776" y="380390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Does knowing exactly where a requirement came from change how much you trust it?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3236976" y="1170432"/>
            <a:ext cx="2743200" cy="354787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3419856" y="1298448"/>
            <a:ext cx="502920" cy="502920"/>
          </a:xfrm>
          <a:prstGeom prst="ellipse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8436" y="13624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8"/>
          <p:cNvSpPr/>
          <p:nvPr/>
        </p:nvSpPr>
        <p:spPr>
          <a:xfrm>
            <a:off x="4041648" y="13716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Human in the loop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3401568" y="1920240"/>
            <a:ext cx="242316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 generates drafts. You decide what becomes canonical. Nothing modifies your project data until you explicitly approve and merge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328416" y="3566160"/>
            <a:ext cx="2578608" cy="9144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3438144" y="36210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discussion: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3438144" y="380390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Would you trust a tool that auto-published changes to your project documents?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181344" y="1170432"/>
            <a:ext cx="2743200" cy="354787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6364224" y="1298448"/>
            <a:ext cx="502920" cy="502920"/>
          </a:xfrm>
          <a:prstGeom prst="ellipse">
            <a:avLst/>
          </a:prstGeom>
          <a:solidFill>
            <a:srgbClr val="EEF4F7"/>
          </a:solidFill>
          <a:ln cap="flat" cmpd="sng" w="12700">
            <a:solidFill>
              <a:srgbClr val="EE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2804" y="13624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8"/>
          <p:cNvSpPr/>
          <p:nvPr/>
        </p:nvSpPr>
        <p:spPr>
          <a:xfrm>
            <a:off x="6986016" y="13716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Bring your own LLM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6345936" y="1920240"/>
            <a:ext cx="242316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Connect your own API key. Your data goes through your LLM account. We provide the orchestration and review layer -- not the inference.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6272784" y="3566160"/>
            <a:ext cx="2578608" cy="914400"/>
          </a:xfrm>
          <a:prstGeom prst="rect">
            <a:avLst/>
          </a:prstGeom>
          <a:solidFill>
            <a:srgbClr val="EEF4F7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382512" y="36210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discussion: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6382512" y="3803904"/>
            <a:ext cx="23774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Is connecting your own API key a feature or a friction point in your context?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Choose your bundle -- or build your own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Select a preset bundle or pick individual artifacts. Nothing runs until you confirm exactly what will be generated.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292608" y="1170432"/>
            <a:ext cx="2743200" cy="3310128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292608" y="1170432"/>
            <a:ext cx="2743200" cy="5303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20624" y="118872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Pre-Sales Essentials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20624" y="176479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For: Pre-Sales Engineer  ·  Stage: pre_sales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03504" y="20848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RFP Analysis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38912" y="215798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603504" y="24048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Requirements Catalog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438912" y="247802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03504" y="2724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38912" y="279806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603504" y="3044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38912" y="311810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03504" y="3364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38912" y="343814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03504" y="36850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438912" y="375818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03504" y="40050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438912" y="4078224"/>
            <a:ext cx="91440" cy="914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3236976" y="1170432"/>
            <a:ext cx="2743200" cy="3310128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3236976" y="1170432"/>
            <a:ext cx="2743200" cy="53035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3364992" y="118872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Proposal Ready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364992" y="176479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For: Pre-Sales Engineer  ·  Stage: proposal_preparation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547872" y="20848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3383280" y="2157984"/>
            <a:ext cx="91440" cy="91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3547872" y="24048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SOW Draft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383280" y="2478024"/>
            <a:ext cx="91440" cy="91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3547872" y="2724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383280" y="2798064"/>
            <a:ext cx="91440" cy="91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547872" y="3044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383280" y="3118104"/>
            <a:ext cx="91440" cy="91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3547872" y="3364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383280" y="3438144"/>
            <a:ext cx="91440" cy="91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3547872" y="36850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Proposal Readiness Checklist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3383280" y="3758184"/>
            <a:ext cx="91440" cy="91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6181344" y="1170432"/>
            <a:ext cx="2743200" cy="3310128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6181344" y="1170432"/>
            <a:ext cx="2743200" cy="53035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6309360" y="1188720"/>
            <a:ext cx="2487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and Delivery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309360" y="176479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For: Solution Architect  ·  Stage: sold_project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492240" y="20848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6327648" y="2157984"/>
            <a:ext cx="91440" cy="9144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6492240" y="24048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NFR Extraction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6327648" y="2478024"/>
            <a:ext cx="91440" cy="9144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6492240" y="2724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ADR Candidates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6327648" y="2798064"/>
            <a:ext cx="91440" cy="9144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6492240" y="30449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6327648" y="3118104"/>
            <a:ext cx="91440" cy="9144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6492240" y="3364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6327648" y="3438144"/>
            <a:ext cx="91440" cy="9144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6492240" y="36850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Delivery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6327648" y="3758184"/>
            <a:ext cx="91440" cy="9144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411480" y="4626864"/>
            <a:ext cx="8321040" cy="347472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594360" y="466344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Custom selection: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011680" y="466344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choose exactly the artifacts you want. SOW draft is always optional and never runs automatically.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"/>
          <p:cNvSpPr/>
          <p:nvPr/>
        </p:nvSpPr>
        <p:spPr>
          <a:xfrm>
            <a:off x="5486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11430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17373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23317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29260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7091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58978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82753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11430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17373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23317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29260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35204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41148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47091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53035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58978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70866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82753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5486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11430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17373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23317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29260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35204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47091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58978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70866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76809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11430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17373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23317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35204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41148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47091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53035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58978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70866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82753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5486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11430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17373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23317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29260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35204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41148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47091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0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58978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70866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"/>
          <p:cNvSpPr/>
          <p:nvPr/>
        </p:nvSpPr>
        <p:spPr>
          <a:xfrm>
            <a:off x="76809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82753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0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11430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17373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23317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0"/>
          <p:cNvSpPr/>
          <p:nvPr/>
        </p:nvSpPr>
        <p:spPr>
          <a:xfrm>
            <a:off x="29260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35204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0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47091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53035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58978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0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"/>
          <p:cNvSpPr/>
          <p:nvPr/>
        </p:nvSpPr>
        <p:spPr>
          <a:xfrm>
            <a:off x="82753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502920" y="29260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things we need to learn from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502920" y="78638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capability we build is a hypothesis. Your answer to each question determines what ships next.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502920" y="1261872"/>
            <a:ext cx="8321040" cy="1078992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0"/>
          <p:cNvSpPr/>
          <p:nvPr/>
        </p:nvSpPr>
        <p:spPr>
          <a:xfrm>
            <a:off x="502920" y="1261872"/>
            <a:ext cx="475488" cy="107899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0"/>
          <p:cNvSpPr/>
          <p:nvPr/>
        </p:nvSpPr>
        <p:spPr>
          <a:xfrm>
            <a:off x="502920" y="1261872"/>
            <a:ext cx="47548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078992" y="135331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RFP analysis and requirements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078992" y="1609344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 transform your uploaded pre-sales documents into a grounded, traceable draft of requirements, risks, assumptions, and open questions -- linked back to the source.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10"/>
          <p:cNvCxnSpPr/>
          <p:nvPr/>
        </p:nvCxnSpPr>
        <p:spPr>
          <a:xfrm>
            <a:off x="5321808" y="1389888"/>
            <a:ext cx="0" cy="822960"/>
          </a:xfrm>
          <a:prstGeom prst="straightConnector1">
            <a:avLst/>
          </a:prstGeom>
          <a:noFill/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0"/>
          <p:cNvSpPr/>
          <p:nvPr/>
        </p:nvSpPr>
        <p:spPr>
          <a:xfrm>
            <a:off x="5468112" y="13533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question that matters: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5468112" y="1554480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Does this already solve a meaningful part of your proposal preparation or handover pain?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502920" y="2450592"/>
            <a:ext cx="8321040" cy="1078992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502920" y="2450592"/>
            <a:ext cx="475488" cy="107899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0"/>
          <p:cNvSpPr/>
          <p:nvPr/>
        </p:nvSpPr>
        <p:spPr>
          <a:xfrm>
            <a:off x="502920" y="2450592"/>
            <a:ext cx="47548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1078992" y="2542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PRD and sandbox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1078992" y="2798064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 generate a PRD from your analyzed inputs and keep it sandboxed -- nothing modifies your project until you explicitly approve and merge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10"/>
          <p:cNvCxnSpPr/>
          <p:nvPr/>
        </p:nvCxnSpPr>
        <p:spPr>
          <a:xfrm>
            <a:off x="5321808" y="2578608"/>
            <a:ext cx="0" cy="822960"/>
          </a:xfrm>
          <a:prstGeom prst="straightConnector1">
            <a:avLst/>
          </a:prstGeom>
          <a:noFill/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0"/>
          <p:cNvSpPr/>
          <p:nvPr/>
        </p:nvSpPr>
        <p:spPr>
          <a:xfrm>
            <a:off x="5468112" y="254203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The question that matters: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5468112" y="2743200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Would you trust a review model like this on a real engagement? Or does the extra step feel like friction?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502920" y="3639312"/>
            <a:ext cx="8321040" cy="1078992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3639312"/>
            <a:ext cx="475488" cy="107899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3639312"/>
            <a:ext cx="47548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1078992" y="37307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SOW drafting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1078992" y="3986784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 draft an initial Statement of Work with every uncertain section annotated as [CONFIRMED], [ASSUMED], or [PLACEHOLDER]. Commercial and legal sections are clearly flagged for human review.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10"/>
          <p:cNvCxnSpPr/>
          <p:nvPr/>
        </p:nvCxnSpPr>
        <p:spPr>
          <a:xfrm>
            <a:off x="5321808" y="3767328"/>
            <a:ext cx="0" cy="822960"/>
          </a:xfrm>
          <a:prstGeom prst="straightConnector1">
            <a:avLst/>
          </a:prstGeom>
          <a:noFill/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0"/>
          <p:cNvSpPr/>
          <p:nvPr/>
        </p:nvSpPr>
        <p:spPr>
          <a:xfrm>
            <a:off x="5468112" y="373075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question that matters: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5468112" y="3931920"/>
            <a:ext cx="3246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Is a structured SOW draft what you actually need -- or do better upstream artifacts (RFP analysis, requirements, PRD) solve the problem first?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10"/>
          <p:cNvCxnSpPr/>
          <p:nvPr/>
        </p:nvCxnSpPr>
        <p:spPr>
          <a:xfrm>
            <a:off x="502920" y="482803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10"/>
          <p:cNvSpPr/>
          <p:nvPr/>
        </p:nvSpPr>
        <p:spPr>
          <a:xfrm>
            <a:off x="502920" y="4864608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build in this order because each answer shapes the next decision. None of it is fixed until you tell 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Greenfield and brownfield are different workflows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platform adapts to both. Document inputs, artifact priorities, and stage routing differ significantly.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365760" y="1170432"/>
            <a:ext cx="4069080" cy="354787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365760" y="1170432"/>
            <a:ext cx="4069080" cy="5303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502920" y="118872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Greenfield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502920" y="118872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F1E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F1E8"/>
                </a:solidFill>
                <a:latin typeface="Calibri"/>
                <a:ea typeface="Calibri"/>
                <a:cs typeface="Calibri"/>
                <a:sym typeface="Calibri"/>
              </a:rPr>
              <a:t>New system, clean slate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502920" y="18105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Starting inputs: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1920240" y="18105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RFP, vision doc, market requirements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502920" y="22677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flow: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1920240" y="22677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pre_sales -&gt; proposal -&gt; sold_project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502920" y="27249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First artifacts: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1920240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Requirements, PRD, SOW Draft, Exec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502920" y="31821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Architecture: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1920240" y="31821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Freedom to design stack and patterns from scratch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502920" y="36393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artifacts: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1920240" y="36393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C4 model, ADRs for tech selection, delivery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502920" y="40965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SOW: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1920240" y="40965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Core artifact -- full scope definition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4709160" y="1170432"/>
            <a:ext cx="4069080" cy="354787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1"/>
          <p:cNvSpPr/>
          <p:nvPr/>
        </p:nvSpPr>
        <p:spPr>
          <a:xfrm>
            <a:off x="4709160" y="1170432"/>
            <a:ext cx="4069080" cy="53035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1"/>
          <p:cNvSpPr/>
          <p:nvPr/>
        </p:nvSpPr>
        <p:spPr>
          <a:xfrm>
            <a:off x="4846320" y="118872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Brownfield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/>
          <p:nvPr/>
        </p:nvSpPr>
        <p:spPr>
          <a:xfrm>
            <a:off x="4846320" y="118872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EF3C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EF3C7"/>
                </a:solidFill>
                <a:latin typeface="Calibri"/>
                <a:ea typeface="Calibri"/>
                <a:cs typeface="Calibri"/>
                <a:sym typeface="Calibri"/>
              </a:rPr>
              <a:t>Existing system, real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4846320" y="18105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Starting inputs: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6263640" y="18105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Existing arch docs, audit, integration specs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4846320" y="22677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flow: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6263640" y="22677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sold_project -&gt; architecture -&gt; implementation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4846320" y="27249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First artifacts: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6263640" y="27249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Integration landscape, constraint catalog, risk log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4846320" y="31821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Architecture: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6263640" y="31821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Must work within existing tech, data, and team limits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4846320" y="36393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artifacts: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6263640" y="36393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Migration ADRs, NFR gaps, delivery risk assessment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4846320" y="4096512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SOW: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6263640" y="409651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Scope tightly bounded by legacy constraints -- extra care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4315968" y="2514600"/>
            <a:ext cx="512064" cy="512064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1"/>
          <p:cNvSpPr/>
          <p:nvPr/>
        </p:nvSpPr>
        <p:spPr>
          <a:xfrm>
            <a:off x="4315968" y="25146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1"/>
          <p:cNvSpPr/>
          <p:nvPr/>
        </p:nvSpPr>
        <p:spPr>
          <a:xfrm>
            <a:off x="502920" y="4846320"/>
            <a:ext cx="813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Same platform. Stage and role selection routes you to the right artifacts for either context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2"/>
          <p:cNvSpPr/>
          <p:nvPr/>
        </p:nvSpPr>
        <p:spPr>
          <a:xfrm>
            <a:off x="5486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11430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17373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23317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29260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47091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58978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82753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11430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17373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23317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29260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35204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2"/>
          <p:cNvSpPr/>
          <p:nvPr/>
        </p:nvSpPr>
        <p:spPr>
          <a:xfrm>
            <a:off x="41148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47091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2"/>
          <p:cNvSpPr/>
          <p:nvPr/>
        </p:nvSpPr>
        <p:spPr>
          <a:xfrm>
            <a:off x="53035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58978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"/>
          <p:cNvSpPr/>
          <p:nvPr/>
        </p:nvSpPr>
        <p:spPr>
          <a:xfrm>
            <a:off x="70866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2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82753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2"/>
          <p:cNvSpPr/>
          <p:nvPr/>
        </p:nvSpPr>
        <p:spPr>
          <a:xfrm>
            <a:off x="5486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2"/>
          <p:cNvSpPr/>
          <p:nvPr/>
        </p:nvSpPr>
        <p:spPr>
          <a:xfrm>
            <a:off x="11430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2"/>
          <p:cNvSpPr/>
          <p:nvPr/>
        </p:nvSpPr>
        <p:spPr>
          <a:xfrm>
            <a:off x="17373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2"/>
          <p:cNvSpPr/>
          <p:nvPr/>
        </p:nvSpPr>
        <p:spPr>
          <a:xfrm>
            <a:off x="23317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2"/>
          <p:cNvSpPr/>
          <p:nvPr/>
        </p:nvSpPr>
        <p:spPr>
          <a:xfrm>
            <a:off x="29260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35204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2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2"/>
          <p:cNvSpPr/>
          <p:nvPr/>
        </p:nvSpPr>
        <p:spPr>
          <a:xfrm>
            <a:off x="47091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2"/>
          <p:cNvSpPr/>
          <p:nvPr/>
        </p:nvSpPr>
        <p:spPr>
          <a:xfrm>
            <a:off x="58978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2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70866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2"/>
          <p:cNvSpPr/>
          <p:nvPr/>
        </p:nvSpPr>
        <p:spPr>
          <a:xfrm>
            <a:off x="76809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2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2"/>
          <p:cNvSpPr/>
          <p:nvPr/>
        </p:nvSpPr>
        <p:spPr>
          <a:xfrm>
            <a:off x="11430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2"/>
          <p:cNvSpPr/>
          <p:nvPr/>
        </p:nvSpPr>
        <p:spPr>
          <a:xfrm>
            <a:off x="17373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23317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2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2"/>
          <p:cNvSpPr/>
          <p:nvPr/>
        </p:nvSpPr>
        <p:spPr>
          <a:xfrm>
            <a:off x="35204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2"/>
          <p:cNvSpPr/>
          <p:nvPr/>
        </p:nvSpPr>
        <p:spPr>
          <a:xfrm>
            <a:off x="41148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2"/>
          <p:cNvSpPr/>
          <p:nvPr/>
        </p:nvSpPr>
        <p:spPr>
          <a:xfrm>
            <a:off x="47091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2"/>
          <p:cNvSpPr/>
          <p:nvPr/>
        </p:nvSpPr>
        <p:spPr>
          <a:xfrm>
            <a:off x="53035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2"/>
          <p:cNvSpPr/>
          <p:nvPr/>
        </p:nvSpPr>
        <p:spPr>
          <a:xfrm>
            <a:off x="58978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2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2"/>
          <p:cNvSpPr/>
          <p:nvPr/>
        </p:nvSpPr>
        <p:spPr>
          <a:xfrm>
            <a:off x="70866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2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2"/>
          <p:cNvSpPr/>
          <p:nvPr/>
        </p:nvSpPr>
        <p:spPr>
          <a:xfrm>
            <a:off x="82753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2"/>
          <p:cNvSpPr/>
          <p:nvPr/>
        </p:nvSpPr>
        <p:spPr>
          <a:xfrm>
            <a:off x="5486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2"/>
          <p:cNvSpPr/>
          <p:nvPr/>
        </p:nvSpPr>
        <p:spPr>
          <a:xfrm>
            <a:off x="11430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2"/>
          <p:cNvSpPr/>
          <p:nvPr/>
        </p:nvSpPr>
        <p:spPr>
          <a:xfrm>
            <a:off x="17373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2"/>
          <p:cNvSpPr/>
          <p:nvPr/>
        </p:nvSpPr>
        <p:spPr>
          <a:xfrm>
            <a:off x="23317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2"/>
          <p:cNvSpPr/>
          <p:nvPr/>
        </p:nvSpPr>
        <p:spPr>
          <a:xfrm>
            <a:off x="29260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2"/>
          <p:cNvSpPr/>
          <p:nvPr/>
        </p:nvSpPr>
        <p:spPr>
          <a:xfrm>
            <a:off x="35204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2"/>
          <p:cNvSpPr/>
          <p:nvPr/>
        </p:nvSpPr>
        <p:spPr>
          <a:xfrm>
            <a:off x="41148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2"/>
          <p:cNvSpPr/>
          <p:nvPr/>
        </p:nvSpPr>
        <p:spPr>
          <a:xfrm>
            <a:off x="47091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2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2"/>
          <p:cNvSpPr/>
          <p:nvPr/>
        </p:nvSpPr>
        <p:spPr>
          <a:xfrm>
            <a:off x="58978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2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2"/>
          <p:cNvSpPr/>
          <p:nvPr/>
        </p:nvSpPr>
        <p:spPr>
          <a:xfrm>
            <a:off x="70866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2"/>
          <p:cNvSpPr/>
          <p:nvPr/>
        </p:nvSpPr>
        <p:spPr>
          <a:xfrm>
            <a:off x="76809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2"/>
          <p:cNvSpPr/>
          <p:nvPr/>
        </p:nvSpPr>
        <p:spPr>
          <a:xfrm>
            <a:off x="82753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2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2"/>
          <p:cNvSpPr/>
          <p:nvPr/>
        </p:nvSpPr>
        <p:spPr>
          <a:xfrm>
            <a:off x="11430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2"/>
          <p:cNvSpPr/>
          <p:nvPr/>
        </p:nvSpPr>
        <p:spPr>
          <a:xfrm>
            <a:off x="17373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23317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2"/>
          <p:cNvSpPr/>
          <p:nvPr/>
        </p:nvSpPr>
        <p:spPr>
          <a:xfrm>
            <a:off x="29260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2"/>
          <p:cNvSpPr/>
          <p:nvPr/>
        </p:nvSpPr>
        <p:spPr>
          <a:xfrm>
            <a:off x="35204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2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2"/>
          <p:cNvSpPr/>
          <p:nvPr/>
        </p:nvSpPr>
        <p:spPr>
          <a:xfrm>
            <a:off x="47091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2"/>
          <p:cNvSpPr/>
          <p:nvPr/>
        </p:nvSpPr>
        <p:spPr>
          <a:xfrm>
            <a:off x="53035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2"/>
          <p:cNvSpPr/>
          <p:nvPr/>
        </p:nvSpPr>
        <p:spPr>
          <a:xfrm>
            <a:off x="58978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2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2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2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2"/>
          <p:cNvSpPr/>
          <p:nvPr/>
        </p:nvSpPr>
        <p:spPr>
          <a:xfrm>
            <a:off x="82753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2"/>
          <p:cNvSpPr/>
          <p:nvPr/>
        </p:nvSpPr>
        <p:spPr>
          <a:xfrm>
            <a:off x="502920" y="292608"/>
            <a:ext cx="2377440" cy="27432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2"/>
          <p:cNvSpPr/>
          <p:nvPr/>
        </p:nvSpPr>
        <p:spPr>
          <a:xfrm>
            <a:off x="502920" y="29260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PRE-SALES 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502920" y="640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we want to ask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502920" y="11155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answers shape what gets built first and whether the SOW workflow is the right next bet.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502920" y="1463040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2"/>
          <p:cNvSpPr/>
          <p:nvPr/>
        </p:nvSpPr>
        <p:spPr>
          <a:xfrm>
            <a:off x="502920" y="1463040"/>
            <a:ext cx="45720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2"/>
          <p:cNvSpPr/>
          <p:nvPr/>
        </p:nvSpPr>
        <p:spPr>
          <a:xfrm>
            <a:off x="502920" y="14630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1078992" y="15087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Walk me through your last RFP response. Which part took the longest -- and what would you have automated first if you could?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502920" y="2167128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2"/>
          <p:cNvSpPr/>
          <p:nvPr/>
        </p:nvSpPr>
        <p:spPr>
          <a:xfrm>
            <a:off x="502920" y="2167128"/>
            <a:ext cx="45720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2"/>
          <p:cNvSpPr/>
          <p:nvPr/>
        </p:nvSpPr>
        <p:spPr>
          <a:xfrm>
            <a:off x="502920" y="2167128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1078992" y="221284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the project moves to delivery, what context gets lost? What does the delivery team have to rediscover that you already figured out?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502920" y="2871216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2"/>
          <p:cNvSpPr/>
          <p:nvPr/>
        </p:nvSpPr>
        <p:spPr>
          <a:xfrm>
            <a:off x="502920" y="2871216"/>
            <a:ext cx="45720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2"/>
          <p:cNvSpPr/>
          <p:nvPr/>
        </p:nvSpPr>
        <p:spPr>
          <a:xfrm>
            <a:off x="502920" y="2871216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1078992" y="2916936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How does your pre-sales process differ between a greenfield opportunity and a brownfield system migration? Which is harder to scope?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502920" y="3575304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2"/>
          <p:cNvSpPr/>
          <p:nvPr/>
        </p:nvSpPr>
        <p:spPr>
          <a:xfrm>
            <a:off x="502920" y="3575304"/>
            <a:ext cx="45720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2"/>
          <p:cNvSpPr/>
          <p:nvPr/>
        </p:nvSpPr>
        <p:spPr>
          <a:xfrm>
            <a:off x="502920" y="3575304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1078992" y="3621024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If this tool generated a SOW draft -- with every uncertain section clearly marked as [ASSUMED] or [PLACEHOLDER] -- would you trust it as a starting point for your internal review?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502920" y="4279392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2"/>
          <p:cNvSpPr/>
          <p:nvPr/>
        </p:nvSpPr>
        <p:spPr>
          <a:xfrm>
            <a:off x="502920" y="4279392"/>
            <a:ext cx="45720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/>
          <p:nvPr/>
        </p:nvSpPr>
        <p:spPr>
          <a:xfrm>
            <a:off x="502920" y="4279392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2"/>
          <p:cNvSpPr/>
          <p:nvPr/>
        </p:nvSpPr>
        <p:spPr>
          <a:xfrm>
            <a:off x="1078992" y="432511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What would need to be true for you to use this on a real proposal in the next 90 days? And what would make you walk away?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3"/>
          <p:cNvSpPr/>
          <p:nvPr/>
        </p:nvSpPr>
        <p:spPr>
          <a:xfrm>
            <a:off x="5486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3"/>
          <p:cNvSpPr/>
          <p:nvPr/>
        </p:nvSpPr>
        <p:spPr>
          <a:xfrm>
            <a:off x="11430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3"/>
          <p:cNvSpPr/>
          <p:nvPr/>
        </p:nvSpPr>
        <p:spPr>
          <a:xfrm>
            <a:off x="17373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3"/>
          <p:cNvSpPr/>
          <p:nvPr/>
        </p:nvSpPr>
        <p:spPr>
          <a:xfrm>
            <a:off x="23317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3"/>
          <p:cNvSpPr/>
          <p:nvPr/>
        </p:nvSpPr>
        <p:spPr>
          <a:xfrm>
            <a:off x="29260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3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3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3"/>
          <p:cNvSpPr/>
          <p:nvPr/>
        </p:nvSpPr>
        <p:spPr>
          <a:xfrm>
            <a:off x="47091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3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3"/>
          <p:cNvSpPr/>
          <p:nvPr/>
        </p:nvSpPr>
        <p:spPr>
          <a:xfrm>
            <a:off x="58978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3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3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3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3"/>
          <p:cNvSpPr/>
          <p:nvPr/>
        </p:nvSpPr>
        <p:spPr>
          <a:xfrm>
            <a:off x="82753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3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3"/>
          <p:cNvSpPr/>
          <p:nvPr/>
        </p:nvSpPr>
        <p:spPr>
          <a:xfrm>
            <a:off x="11430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3"/>
          <p:cNvSpPr/>
          <p:nvPr/>
        </p:nvSpPr>
        <p:spPr>
          <a:xfrm>
            <a:off x="17373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3"/>
          <p:cNvSpPr/>
          <p:nvPr/>
        </p:nvSpPr>
        <p:spPr>
          <a:xfrm>
            <a:off x="23317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3"/>
          <p:cNvSpPr/>
          <p:nvPr/>
        </p:nvSpPr>
        <p:spPr>
          <a:xfrm>
            <a:off x="29260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3"/>
          <p:cNvSpPr/>
          <p:nvPr/>
        </p:nvSpPr>
        <p:spPr>
          <a:xfrm>
            <a:off x="35204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3"/>
          <p:cNvSpPr/>
          <p:nvPr/>
        </p:nvSpPr>
        <p:spPr>
          <a:xfrm>
            <a:off x="41148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3"/>
          <p:cNvSpPr/>
          <p:nvPr/>
        </p:nvSpPr>
        <p:spPr>
          <a:xfrm>
            <a:off x="47091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3"/>
          <p:cNvSpPr/>
          <p:nvPr/>
        </p:nvSpPr>
        <p:spPr>
          <a:xfrm>
            <a:off x="53035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3"/>
          <p:cNvSpPr/>
          <p:nvPr/>
        </p:nvSpPr>
        <p:spPr>
          <a:xfrm>
            <a:off x="58978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3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3"/>
          <p:cNvSpPr/>
          <p:nvPr/>
        </p:nvSpPr>
        <p:spPr>
          <a:xfrm>
            <a:off x="70866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3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3"/>
          <p:cNvSpPr/>
          <p:nvPr/>
        </p:nvSpPr>
        <p:spPr>
          <a:xfrm>
            <a:off x="82753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3"/>
          <p:cNvSpPr/>
          <p:nvPr/>
        </p:nvSpPr>
        <p:spPr>
          <a:xfrm>
            <a:off x="5486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3"/>
          <p:cNvSpPr/>
          <p:nvPr/>
        </p:nvSpPr>
        <p:spPr>
          <a:xfrm>
            <a:off x="11430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3"/>
          <p:cNvSpPr/>
          <p:nvPr/>
        </p:nvSpPr>
        <p:spPr>
          <a:xfrm>
            <a:off x="17373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3"/>
          <p:cNvSpPr/>
          <p:nvPr/>
        </p:nvSpPr>
        <p:spPr>
          <a:xfrm>
            <a:off x="23317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3"/>
          <p:cNvSpPr/>
          <p:nvPr/>
        </p:nvSpPr>
        <p:spPr>
          <a:xfrm>
            <a:off x="29260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3"/>
          <p:cNvSpPr/>
          <p:nvPr/>
        </p:nvSpPr>
        <p:spPr>
          <a:xfrm>
            <a:off x="35204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3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3"/>
          <p:cNvSpPr/>
          <p:nvPr/>
        </p:nvSpPr>
        <p:spPr>
          <a:xfrm>
            <a:off x="47091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3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3"/>
          <p:cNvSpPr/>
          <p:nvPr/>
        </p:nvSpPr>
        <p:spPr>
          <a:xfrm>
            <a:off x="58978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3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3"/>
          <p:cNvSpPr/>
          <p:nvPr/>
        </p:nvSpPr>
        <p:spPr>
          <a:xfrm>
            <a:off x="70866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3"/>
          <p:cNvSpPr/>
          <p:nvPr/>
        </p:nvSpPr>
        <p:spPr>
          <a:xfrm>
            <a:off x="76809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3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3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3"/>
          <p:cNvSpPr/>
          <p:nvPr/>
        </p:nvSpPr>
        <p:spPr>
          <a:xfrm>
            <a:off x="11430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3"/>
          <p:cNvSpPr/>
          <p:nvPr/>
        </p:nvSpPr>
        <p:spPr>
          <a:xfrm>
            <a:off x="17373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3"/>
          <p:cNvSpPr/>
          <p:nvPr/>
        </p:nvSpPr>
        <p:spPr>
          <a:xfrm>
            <a:off x="23317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3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3"/>
          <p:cNvSpPr/>
          <p:nvPr/>
        </p:nvSpPr>
        <p:spPr>
          <a:xfrm>
            <a:off x="35204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3"/>
          <p:cNvSpPr/>
          <p:nvPr/>
        </p:nvSpPr>
        <p:spPr>
          <a:xfrm>
            <a:off x="41148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3"/>
          <p:cNvSpPr/>
          <p:nvPr/>
        </p:nvSpPr>
        <p:spPr>
          <a:xfrm>
            <a:off x="47091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3"/>
          <p:cNvSpPr/>
          <p:nvPr/>
        </p:nvSpPr>
        <p:spPr>
          <a:xfrm>
            <a:off x="53035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3"/>
          <p:cNvSpPr/>
          <p:nvPr/>
        </p:nvSpPr>
        <p:spPr>
          <a:xfrm>
            <a:off x="58978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3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3"/>
          <p:cNvSpPr/>
          <p:nvPr/>
        </p:nvSpPr>
        <p:spPr>
          <a:xfrm>
            <a:off x="70866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3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3"/>
          <p:cNvSpPr/>
          <p:nvPr/>
        </p:nvSpPr>
        <p:spPr>
          <a:xfrm>
            <a:off x="82753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3"/>
          <p:cNvSpPr/>
          <p:nvPr/>
        </p:nvSpPr>
        <p:spPr>
          <a:xfrm>
            <a:off x="5486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3"/>
          <p:cNvSpPr/>
          <p:nvPr/>
        </p:nvSpPr>
        <p:spPr>
          <a:xfrm>
            <a:off x="11430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3"/>
          <p:cNvSpPr/>
          <p:nvPr/>
        </p:nvSpPr>
        <p:spPr>
          <a:xfrm>
            <a:off x="17373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3"/>
          <p:cNvSpPr/>
          <p:nvPr/>
        </p:nvSpPr>
        <p:spPr>
          <a:xfrm>
            <a:off x="23317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/>
          <p:nvPr/>
        </p:nvSpPr>
        <p:spPr>
          <a:xfrm>
            <a:off x="29260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3"/>
          <p:cNvSpPr/>
          <p:nvPr/>
        </p:nvSpPr>
        <p:spPr>
          <a:xfrm>
            <a:off x="35204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3"/>
          <p:cNvSpPr/>
          <p:nvPr/>
        </p:nvSpPr>
        <p:spPr>
          <a:xfrm>
            <a:off x="41148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3"/>
          <p:cNvSpPr/>
          <p:nvPr/>
        </p:nvSpPr>
        <p:spPr>
          <a:xfrm>
            <a:off x="47091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3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3"/>
          <p:cNvSpPr/>
          <p:nvPr/>
        </p:nvSpPr>
        <p:spPr>
          <a:xfrm>
            <a:off x="58978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3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3"/>
          <p:cNvSpPr/>
          <p:nvPr/>
        </p:nvSpPr>
        <p:spPr>
          <a:xfrm>
            <a:off x="70866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3"/>
          <p:cNvSpPr/>
          <p:nvPr/>
        </p:nvSpPr>
        <p:spPr>
          <a:xfrm>
            <a:off x="76809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3"/>
          <p:cNvSpPr/>
          <p:nvPr/>
        </p:nvSpPr>
        <p:spPr>
          <a:xfrm>
            <a:off x="82753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3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3"/>
          <p:cNvSpPr/>
          <p:nvPr/>
        </p:nvSpPr>
        <p:spPr>
          <a:xfrm>
            <a:off x="11430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3"/>
          <p:cNvSpPr/>
          <p:nvPr/>
        </p:nvSpPr>
        <p:spPr>
          <a:xfrm>
            <a:off x="17373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3"/>
          <p:cNvSpPr/>
          <p:nvPr/>
        </p:nvSpPr>
        <p:spPr>
          <a:xfrm>
            <a:off x="23317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3"/>
          <p:cNvSpPr/>
          <p:nvPr/>
        </p:nvSpPr>
        <p:spPr>
          <a:xfrm>
            <a:off x="29260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3"/>
          <p:cNvSpPr/>
          <p:nvPr/>
        </p:nvSpPr>
        <p:spPr>
          <a:xfrm>
            <a:off x="35204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3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3"/>
          <p:cNvSpPr/>
          <p:nvPr/>
        </p:nvSpPr>
        <p:spPr>
          <a:xfrm>
            <a:off x="47091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3"/>
          <p:cNvSpPr/>
          <p:nvPr/>
        </p:nvSpPr>
        <p:spPr>
          <a:xfrm>
            <a:off x="53035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3"/>
          <p:cNvSpPr/>
          <p:nvPr/>
        </p:nvSpPr>
        <p:spPr>
          <a:xfrm>
            <a:off x="58978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3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3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3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3"/>
          <p:cNvSpPr/>
          <p:nvPr/>
        </p:nvSpPr>
        <p:spPr>
          <a:xfrm>
            <a:off x="82753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3"/>
          <p:cNvSpPr/>
          <p:nvPr/>
        </p:nvSpPr>
        <p:spPr>
          <a:xfrm>
            <a:off x="502920" y="292608"/>
            <a:ext cx="2377440" cy="274320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3"/>
          <p:cNvSpPr/>
          <p:nvPr/>
        </p:nvSpPr>
        <p:spPr>
          <a:xfrm>
            <a:off x="502920" y="29260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ARCHITECT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3"/>
          <p:cNvSpPr/>
          <p:nvPr/>
        </p:nvSpPr>
        <p:spPr>
          <a:xfrm>
            <a:off x="502920" y="640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we want to ask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3"/>
          <p:cNvSpPr/>
          <p:nvPr/>
        </p:nvSpPr>
        <p:spPr>
          <a:xfrm>
            <a:off x="502920" y="11155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answers determine whether the architecture documentation workflow is the right next investment.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3"/>
          <p:cNvSpPr/>
          <p:nvPr/>
        </p:nvSpPr>
        <p:spPr>
          <a:xfrm>
            <a:off x="502920" y="1463040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3"/>
          <p:cNvSpPr/>
          <p:nvPr/>
        </p:nvSpPr>
        <p:spPr>
          <a:xfrm>
            <a:off x="502920" y="1463040"/>
            <a:ext cx="4572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3"/>
          <p:cNvSpPr/>
          <p:nvPr/>
        </p:nvSpPr>
        <p:spPr>
          <a:xfrm>
            <a:off x="502920" y="14630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3"/>
          <p:cNvSpPr/>
          <p:nvPr/>
        </p:nvSpPr>
        <p:spPr>
          <a:xfrm>
            <a:off x="1078992" y="15087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you start on a sold project, what documentation do you wish pre-sales had produced? What do you always have to recreate from scratch?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3"/>
          <p:cNvSpPr/>
          <p:nvPr/>
        </p:nvSpPr>
        <p:spPr>
          <a:xfrm>
            <a:off x="502920" y="2167128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3"/>
          <p:cNvSpPr/>
          <p:nvPr/>
        </p:nvSpPr>
        <p:spPr>
          <a:xfrm>
            <a:off x="502920" y="2167128"/>
            <a:ext cx="4572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3"/>
          <p:cNvSpPr/>
          <p:nvPr/>
        </p:nvSpPr>
        <p:spPr>
          <a:xfrm>
            <a:off x="502920" y="2167128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3"/>
          <p:cNvSpPr/>
          <p:nvPr/>
        </p:nvSpPr>
        <p:spPr>
          <a:xfrm>
            <a:off x="1078992" y="221284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How do you currently handle architecture documentation for brownfield systems -- where existing constraints shape every decision you can make?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3"/>
          <p:cNvSpPr/>
          <p:nvPr/>
        </p:nvSpPr>
        <p:spPr>
          <a:xfrm>
            <a:off x="502920" y="2871216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3"/>
          <p:cNvSpPr/>
          <p:nvPr/>
        </p:nvSpPr>
        <p:spPr>
          <a:xfrm>
            <a:off x="502920" y="2871216"/>
            <a:ext cx="4572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3"/>
          <p:cNvSpPr/>
          <p:nvPr/>
        </p:nvSpPr>
        <p:spPr>
          <a:xfrm>
            <a:off x="502920" y="2871216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3"/>
          <p:cNvSpPr/>
          <p:nvPr/>
        </p:nvSpPr>
        <p:spPr>
          <a:xfrm>
            <a:off x="1078992" y="2916936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Would you use the same tool for pre-sales architecture framing and post-sale delivery documentation, or do you expect fundamentally different workflows?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3"/>
          <p:cNvSpPr/>
          <p:nvPr/>
        </p:nvSpPr>
        <p:spPr>
          <a:xfrm>
            <a:off x="502920" y="3575304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3"/>
          <p:cNvSpPr/>
          <p:nvPr/>
        </p:nvSpPr>
        <p:spPr>
          <a:xfrm>
            <a:off x="502920" y="3575304"/>
            <a:ext cx="4572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3"/>
          <p:cNvSpPr/>
          <p:nvPr/>
        </p:nvSpPr>
        <p:spPr>
          <a:xfrm>
            <a:off x="502920" y="3575304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3"/>
          <p:cNvSpPr/>
          <p:nvPr/>
        </p:nvSpPr>
        <p:spPr>
          <a:xfrm>
            <a:off x="1078992" y="3621024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generating architecture artifacts -- C4 diagrams, arc42, ADRs -- what would a tool need to get right for you to trust the output on a real project?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502920" y="4279392"/>
            <a:ext cx="8321040" cy="594360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3"/>
          <p:cNvSpPr/>
          <p:nvPr/>
        </p:nvSpPr>
        <p:spPr>
          <a:xfrm>
            <a:off x="502920" y="4279392"/>
            <a:ext cx="4572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3"/>
          <p:cNvSpPr/>
          <p:nvPr/>
        </p:nvSpPr>
        <p:spPr>
          <a:xfrm>
            <a:off x="502920" y="4279392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3"/>
          <p:cNvSpPr/>
          <p:nvPr/>
        </p:nvSpPr>
        <p:spPr>
          <a:xfrm>
            <a:off x="1078992" y="432511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What is the one thing missing from your current architecture documentation toolchain that causes the most friction, cost, or rework?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4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Try it free -- on your own terms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4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project limits. Start with the free tier and upgrade when you need more power.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4"/>
          <p:cNvSpPr/>
          <p:nvPr/>
        </p:nvSpPr>
        <p:spPr>
          <a:xfrm>
            <a:off x="365760" y="1170432"/>
            <a:ext cx="4069080" cy="3547872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4"/>
          <p:cNvSpPr/>
          <p:nvPr/>
        </p:nvSpPr>
        <p:spPr>
          <a:xfrm>
            <a:off x="365760" y="1170432"/>
            <a:ext cx="4069080" cy="548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4"/>
          <p:cNvSpPr/>
          <p:nvPr/>
        </p:nvSpPr>
        <p:spPr>
          <a:xfrm>
            <a:off x="493776" y="1188720"/>
            <a:ext cx="1097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4"/>
          <p:cNvSpPr/>
          <p:nvPr/>
        </p:nvSpPr>
        <p:spPr>
          <a:xfrm>
            <a:off x="1645920" y="1234440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F1E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BF1E8"/>
                </a:solidFill>
                <a:latin typeface="Calibri"/>
                <a:ea typeface="Calibri"/>
                <a:cs typeface="Calibri"/>
                <a:sym typeface="Calibri"/>
              </a:rPr>
              <a:t>For individuals validating real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4"/>
          <p:cNvSpPr/>
          <p:nvPr/>
        </p:nvSpPr>
        <p:spPr>
          <a:xfrm>
            <a:off x="548640" y="191109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4"/>
          <p:cNvSpPr/>
          <p:nvPr/>
        </p:nvSpPr>
        <p:spPr>
          <a:xfrm>
            <a:off x="713232" y="184708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Unlimited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4"/>
          <p:cNvSpPr/>
          <p:nvPr/>
        </p:nvSpPr>
        <p:spPr>
          <a:xfrm>
            <a:off x="548640" y="223113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4"/>
          <p:cNvSpPr/>
          <p:nvPr/>
        </p:nvSpPr>
        <p:spPr>
          <a:xfrm>
            <a:off x="713232" y="216712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500K workflow tokens /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4"/>
          <p:cNvSpPr/>
          <p:nvPr/>
        </p:nvSpPr>
        <p:spPr>
          <a:xfrm>
            <a:off x="548640" y="255117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4"/>
          <p:cNvSpPr/>
          <p:nvPr/>
        </p:nvSpPr>
        <p:spPr>
          <a:xfrm>
            <a:off x="713232" y="248716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GB document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4"/>
          <p:cNvSpPr/>
          <p:nvPr/>
        </p:nvSpPr>
        <p:spPr>
          <a:xfrm>
            <a:off x="548640" y="287121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4"/>
          <p:cNvSpPr/>
          <p:nvPr/>
        </p:nvSpPr>
        <p:spPr>
          <a:xfrm>
            <a:off x="713232" y="280720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 pre-built artifact bundles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4"/>
          <p:cNvSpPr/>
          <p:nvPr/>
        </p:nvSpPr>
        <p:spPr>
          <a:xfrm>
            <a:off x="548640" y="319125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4"/>
          <p:cNvSpPr/>
          <p:nvPr/>
        </p:nvSpPr>
        <p:spPr>
          <a:xfrm>
            <a:off x="713232" y="312724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Custom artifact selection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4"/>
          <p:cNvSpPr/>
          <p:nvPr/>
        </p:nvSpPr>
        <p:spPr>
          <a:xfrm>
            <a:off x="548640" y="351129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4"/>
          <p:cNvSpPr/>
          <p:nvPr/>
        </p:nvSpPr>
        <p:spPr>
          <a:xfrm>
            <a:off x="713232" y="344728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RFP analysis, PRD, SOW draft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4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4"/>
          <p:cNvSpPr/>
          <p:nvPr/>
        </p:nvSpPr>
        <p:spPr>
          <a:xfrm>
            <a:off x="713232" y="376732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Sandboxed review + approve / merge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4"/>
          <p:cNvSpPr/>
          <p:nvPr/>
        </p:nvSpPr>
        <p:spPr>
          <a:xfrm>
            <a:off x="548640" y="415137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4"/>
          <p:cNvSpPr/>
          <p:nvPr/>
        </p:nvSpPr>
        <p:spPr>
          <a:xfrm>
            <a:off x="713232" y="408736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Markdown and JSON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4"/>
          <p:cNvSpPr/>
          <p:nvPr/>
        </p:nvSpPr>
        <p:spPr>
          <a:xfrm>
            <a:off x="548640" y="4471416"/>
            <a:ext cx="82296" cy="82296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4"/>
          <p:cNvSpPr/>
          <p:nvPr/>
        </p:nvSpPr>
        <p:spPr>
          <a:xfrm>
            <a:off x="713232" y="440740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Bring your own API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4"/>
          <p:cNvSpPr/>
          <p:nvPr/>
        </p:nvSpPr>
        <p:spPr>
          <a:xfrm>
            <a:off x="4754880" y="1170432"/>
            <a:ext cx="4069080" cy="3547872"/>
          </a:xfrm>
          <a:prstGeom prst="rect">
            <a:avLst/>
          </a:prstGeom>
          <a:solidFill>
            <a:srgbClr val="F8FAFB"/>
          </a:solidFill>
          <a:ln cap="flat" cmpd="sng" w="12700">
            <a:solidFill>
              <a:srgbClr val="BAD4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4"/>
          <p:cNvSpPr/>
          <p:nvPr/>
        </p:nvSpPr>
        <p:spPr>
          <a:xfrm>
            <a:off x="4754880" y="1170432"/>
            <a:ext cx="4069080" cy="5486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4"/>
          <p:cNvSpPr/>
          <p:nvPr/>
        </p:nvSpPr>
        <p:spPr>
          <a:xfrm>
            <a:off x="4882896" y="1188720"/>
            <a:ext cx="1097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4"/>
          <p:cNvSpPr/>
          <p:nvPr/>
        </p:nvSpPr>
        <p:spPr>
          <a:xfrm>
            <a:off x="6035040" y="1234440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 teams that run real engagements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4"/>
          <p:cNvSpPr/>
          <p:nvPr/>
        </p:nvSpPr>
        <p:spPr>
          <a:xfrm>
            <a:off x="4937760" y="191109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4"/>
          <p:cNvSpPr/>
          <p:nvPr/>
        </p:nvSpPr>
        <p:spPr>
          <a:xfrm>
            <a:off x="5102352" y="184708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Unlimited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4"/>
          <p:cNvSpPr/>
          <p:nvPr/>
        </p:nvSpPr>
        <p:spPr>
          <a:xfrm>
            <a:off x="4937760" y="223113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4"/>
          <p:cNvSpPr/>
          <p:nvPr/>
        </p:nvSpPr>
        <p:spPr>
          <a:xfrm>
            <a:off x="5102352" y="216712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Unlimited workflow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4"/>
          <p:cNvSpPr/>
          <p:nvPr/>
        </p:nvSpPr>
        <p:spPr>
          <a:xfrm>
            <a:off x="4937760" y="255117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4"/>
          <p:cNvSpPr/>
          <p:nvPr/>
        </p:nvSpPr>
        <p:spPr>
          <a:xfrm>
            <a:off x="5102352" y="248716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 GB document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4"/>
          <p:cNvSpPr/>
          <p:nvPr/>
        </p:nvSpPr>
        <p:spPr>
          <a:xfrm>
            <a:off x="4937760" y="287121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4"/>
          <p:cNvSpPr/>
          <p:nvPr/>
        </p:nvSpPr>
        <p:spPr>
          <a:xfrm>
            <a:off x="5102352" y="280720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Extra storage purchasable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4"/>
          <p:cNvSpPr/>
          <p:nvPr/>
        </p:nvSpPr>
        <p:spPr>
          <a:xfrm>
            <a:off x="4937760" y="319125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4"/>
          <p:cNvSpPr/>
          <p:nvPr/>
        </p:nvSpPr>
        <p:spPr>
          <a:xfrm>
            <a:off x="5102352" y="312724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All artifact bundles + custom builder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4"/>
          <p:cNvSpPr/>
          <p:nvPr/>
        </p:nvSpPr>
        <p:spPr>
          <a:xfrm>
            <a:off x="4937760" y="351129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4"/>
          <p:cNvSpPr/>
          <p:nvPr/>
        </p:nvSpPr>
        <p:spPr>
          <a:xfrm>
            <a:off x="5102352" y="344728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Advanced SOW templates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4"/>
          <p:cNvSpPr/>
          <p:nvPr/>
        </p:nvSpPr>
        <p:spPr>
          <a:xfrm>
            <a:off x="4937760" y="383133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4"/>
          <p:cNvSpPr/>
          <p:nvPr/>
        </p:nvSpPr>
        <p:spPr>
          <a:xfrm>
            <a:off x="5102352" y="376732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Team review and approval workflows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4"/>
          <p:cNvSpPr/>
          <p:nvPr/>
        </p:nvSpPr>
        <p:spPr>
          <a:xfrm>
            <a:off x="4937760" y="415137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4"/>
          <p:cNvSpPr/>
          <p:nvPr/>
        </p:nvSpPr>
        <p:spPr>
          <a:xfrm>
            <a:off x="5102352" y="408736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DOCX and PDF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4"/>
          <p:cNvSpPr/>
          <p:nvPr/>
        </p:nvSpPr>
        <p:spPr>
          <a:xfrm>
            <a:off x="4937760" y="4471416"/>
            <a:ext cx="82296" cy="82296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4"/>
          <p:cNvSpPr/>
          <p:nvPr/>
        </p:nvSpPr>
        <p:spPr>
          <a:xfrm>
            <a:off x="5102352" y="4407408"/>
            <a:ext cx="3593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Priority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4"/>
          <p:cNvSpPr/>
          <p:nvPr/>
        </p:nvSpPr>
        <p:spPr>
          <a:xfrm>
            <a:off x="4864608" y="4617720"/>
            <a:ext cx="3849624" cy="256032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4"/>
          <p:cNvSpPr/>
          <p:nvPr/>
        </p:nvSpPr>
        <p:spPr>
          <a:xfrm>
            <a:off x="4937760" y="462686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Upgrade when your token budget or storage runs 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4"/>
          <p:cNvSpPr/>
          <p:nvPr/>
        </p:nvSpPr>
        <p:spPr>
          <a:xfrm>
            <a:off x="502920" y="4837176"/>
            <a:ext cx="8138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Token budget tracks document tokens processed through your workflows -- not LLM API costs, which stay between you and your provider.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5"/>
          <p:cNvSpPr/>
          <p:nvPr/>
        </p:nvSpPr>
        <p:spPr>
          <a:xfrm>
            <a:off x="5486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5"/>
          <p:cNvSpPr/>
          <p:nvPr/>
        </p:nvSpPr>
        <p:spPr>
          <a:xfrm>
            <a:off x="11430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5"/>
          <p:cNvSpPr/>
          <p:nvPr/>
        </p:nvSpPr>
        <p:spPr>
          <a:xfrm>
            <a:off x="17373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5"/>
          <p:cNvSpPr/>
          <p:nvPr/>
        </p:nvSpPr>
        <p:spPr>
          <a:xfrm>
            <a:off x="23317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5"/>
          <p:cNvSpPr/>
          <p:nvPr/>
        </p:nvSpPr>
        <p:spPr>
          <a:xfrm>
            <a:off x="29260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5"/>
          <p:cNvSpPr/>
          <p:nvPr/>
        </p:nvSpPr>
        <p:spPr>
          <a:xfrm>
            <a:off x="35204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5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5"/>
          <p:cNvSpPr/>
          <p:nvPr/>
        </p:nvSpPr>
        <p:spPr>
          <a:xfrm>
            <a:off x="47091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5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5"/>
          <p:cNvSpPr/>
          <p:nvPr/>
        </p:nvSpPr>
        <p:spPr>
          <a:xfrm>
            <a:off x="589788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5"/>
          <p:cNvSpPr/>
          <p:nvPr/>
        </p:nvSpPr>
        <p:spPr>
          <a:xfrm>
            <a:off x="649224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5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5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5"/>
          <p:cNvSpPr/>
          <p:nvPr/>
        </p:nvSpPr>
        <p:spPr>
          <a:xfrm>
            <a:off x="8275320" y="2743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5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5"/>
          <p:cNvSpPr/>
          <p:nvPr/>
        </p:nvSpPr>
        <p:spPr>
          <a:xfrm>
            <a:off x="11430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5"/>
          <p:cNvSpPr/>
          <p:nvPr/>
        </p:nvSpPr>
        <p:spPr>
          <a:xfrm>
            <a:off x="17373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5"/>
          <p:cNvSpPr/>
          <p:nvPr/>
        </p:nvSpPr>
        <p:spPr>
          <a:xfrm>
            <a:off x="23317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5"/>
          <p:cNvSpPr/>
          <p:nvPr/>
        </p:nvSpPr>
        <p:spPr>
          <a:xfrm>
            <a:off x="29260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5"/>
          <p:cNvSpPr/>
          <p:nvPr/>
        </p:nvSpPr>
        <p:spPr>
          <a:xfrm>
            <a:off x="35204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5"/>
          <p:cNvSpPr/>
          <p:nvPr/>
        </p:nvSpPr>
        <p:spPr>
          <a:xfrm>
            <a:off x="41148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5"/>
          <p:cNvSpPr/>
          <p:nvPr/>
        </p:nvSpPr>
        <p:spPr>
          <a:xfrm>
            <a:off x="47091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/>
          <p:nvPr/>
        </p:nvSpPr>
        <p:spPr>
          <a:xfrm>
            <a:off x="53035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5"/>
          <p:cNvSpPr/>
          <p:nvPr/>
        </p:nvSpPr>
        <p:spPr>
          <a:xfrm>
            <a:off x="589788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5"/>
          <p:cNvSpPr/>
          <p:nvPr/>
        </p:nvSpPr>
        <p:spPr>
          <a:xfrm>
            <a:off x="649224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5"/>
          <p:cNvSpPr/>
          <p:nvPr/>
        </p:nvSpPr>
        <p:spPr>
          <a:xfrm>
            <a:off x="708660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5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5"/>
          <p:cNvSpPr/>
          <p:nvPr/>
        </p:nvSpPr>
        <p:spPr>
          <a:xfrm>
            <a:off x="8275320" y="109728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5"/>
          <p:cNvSpPr/>
          <p:nvPr/>
        </p:nvSpPr>
        <p:spPr>
          <a:xfrm>
            <a:off x="5486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5"/>
          <p:cNvSpPr/>
          <p:nvPr/>
        </p:nvSpPr>
        <p:spPr>
          <a:xfrm>
            <a:off x="11430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5"/>
          <p:cNvSpPr/>
          <p:nvPr/>
        </p:nvSpPr>
        <p:spPr>
          <a:xfrm>
            <a:off x="17373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5"/>
          <p:cNvSpPr/>
          <p:nvPr/>
        </p:nvSpPr>
        <p:spPr>
          <a:xfrm>
            <a:off x="23317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5"/>
          <p:cNvSpPr/>
          <p:nvPr/>
        </p:nvSpPr>
        <p:spPr>
          <a:xfrm>
            <a:off x="29260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5"/>
          <p:cNvSpPr/>
          <p:nvPr/>
        </p:nvSpPr>
        <p:spPr>
          <a:xfrm>
            <a:off x="35204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5"/>
          <p:cNvSpPr/>
          <p:nvPr/>
        </p:nvSpPr>
        <p:spPr>
          <a:xfrm>
            <a:off x="41148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5"/>
          <p:cNvSpPr/>
          <p:nvPr/>
        </p:nvSpPr>
        <p:spPr>
          <a:xfrm>
            <a:off x="47091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5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5"/>
          <p:cNvSpPr/>
          <p:nvPr/>
        </p:nvSpPr>
        <p:spPr>
          <a:xfrm>
            <a:off x="589788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5"/>
          <p:cNvSpPr/>
          <p:nvPr/>
        </p:nvSpPr>
        <p:spPr>
          <a:xfrm>
            <a:off x="649224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5"/>
          <p:cNvSpPr/>
          <p:nvPr/>
        </p:nvSpPr>
        <p:spPr>
          <a:xfrm>
            <a:off x="708660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5"/>
          <p:cNvSpPr/>
          <p:nvPr/>
        </p:nvSpPr>
        <p:spPr>
          <a:xfrm>
            <a:off x="768096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5"/>
          <p:cNvSpPr/>
          <p:nvPr/>
        </p:nvSpPr>
        <p:spPr>
          <a:xfrm>
            <a:off x="8275320" y="192024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5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5"/>
          <p:cNvSpPr/>
          <p:nvPr/>
        </p:nvSpPr>
        <p:spPr>
          <a:xfrm>
            <a:off x="11430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5"/>
          <p:cNvSpPr/>
          <p:nvPr/>
        </p:nvSpPr>
        <p:spPr>
          <a:xfrm>
            <a:off x="17373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5"/>
          <p:cNvSpPr/>
          <p:nvPr/>
        </p:nvSpPr>
        <p:spPr>
          <a:xfrm>
            <a:off x="23317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5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5"/>
          <p:cNvSpPr/>
          <p:nvPr/>
        </p:nvSpPr>
        <p:spPr>
          <a:xfrm>
            <a:off x="35204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5"/>
          <p:cNvSpPr/>
          <p:nvPr/>
        </p:nvSpPr>
        <p:spPr>
          <a:xfrm>
            <a:off x="41148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5"/>
          <p:cNvSpPr/>
          <p:nvPr/>
        </p:nvSpPr>
        <p:spPr>
          <a:xfrm>
            <a:off x="47091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5"/>
          <p:cNvSpPr/>
          <p:nvPr/>
        </p:nvSpPr>
        <p:spPr>
          <a:xfrm>
            <a:off x="53035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5"/>
          <p:cNvSpPr/>
          <p:nvPr/>
        </p:nvSpPr>
        <p:spPr>
          <a:xfrm>
            <a:off x="589788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5"/>
          <p:cNvSpPr/>
          <p:nvPr/>
        </p:nvSpPr>
        <p:spPr>
          <a:xfrm>
            <a:off x="649224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5"/>
          <p:cNvSpPr/>
          <p:nvPr/>
        </p:nvSpPr>
        <p:spPr>
          <a:xfrm>
            <a:off x="708660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5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5"/>
          <p:cNvSpPr/>
          <p:nvPr/>
        </p:nvSpPr>
        <p:spPr>
          <a:xfrm>
            <a:off x="8275320" y="274320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5"/>
          <p:cNvSpPr/>
          <p:nvPr/>
        </p:nvSpPr>
        <p:spPr>
          <a:xfrm>
            <a:off x="5486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5"/>
          <p:cNvSpPr/>
          <p:nvPr/>
        </p:nvSpPr>
        <p:spPr>
          <a:xfrm>
            <a:off x="11430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5"/>
          <p:cNvSpPr/>
          <p:nvPr/>
        </p:nvSpPr>
        <p:spPr>
          <a:xfrm>
            <a:off x="17373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5"/>
          <p:cNvSpPr/>
          <p:nvPr/>
        </p:nvSpPr>
        <p:spPr>
          <a:xfrm>
            <a:off x="23317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5"/>
          <p:cNvSpPr/>
          <p:nvPr/>
        </p:nvSpPr>
        <p:spPr>
          <a:xfrm>
            <a:off x="29260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5"/>
          <p:cNvSpPr/>
          <p:nvPr/>
        </p:nvSpPr>
        <p:spPr>
          <a:xfrm>
            <a:off x="35204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5"/>
          <p:cNvSpPr/>
          <p:nvPr/>
        </p:nvSpPr>
        <p:spPr>
          <a:xfrm>
            <a:off x="41148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5"/>
          <p:cNvSpPr/>
          <p:nvPr/>
        </p:nvSpPr>
        <p:spPr>
          <a:xfrm>
            <a:off x="47091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5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5"/>
          <p:cNvSpPr/>
          <p:nvPr/>
        </p:nvSpPr>
        <p:spPr>
          <a:xfrm>
            <a:off x="589788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5"/>
          <p:cNvSpPr/>
          <p:nvPr/>
        </p:nvSpPr>
        <p:spPr>
          <a:xfrm>
            <a:off x="649224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5"/>
          <p:cNvSpPr/>
          <p:nvPr/>
        </p:nvSpPr>
        <p:spPr>
          <a:xfrm>
            <a:off x="708660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5"/>
          <p:cNvSpPr/>
          <p:nvPr/>
        </p:nvSpPr>
        <p:spPr>
          <a:xfrm>
            <a:off x="768096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5"/>
          <p:cNvSpPr/>
          <p:nvPr/>
        </p:nvSpPr>
        <p:spPr>
          <a:xfrm>
            <a:off x="8275320" y="356616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5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5"/>
          <p:cNvSpPr/>
          <p:nvPr/>
        </p:nvSpPr>
        <p:spPr>
          <a:xfrm>
            <a:off x="11430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5"/>
          <p:cNvSpPr/>
          <p:nvPr/>
        </p:nvSpPr>
        <p:spPr>
          <a:xfrm>
            <a:off x="17373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5"/>
          <p:cNvSpPr/>
          <p:nvPr/>
        </p:nvSpPr>
        <p:spPr>
          <a:xfrm>
            <a:off x="23317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5"/>
          <p:cNvSpPr/>
          <p:nvPr/>
        </p:nvSpPr>
        <p:spPr>
          <a:xfrm>
            <a:off x="29260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5"/>
          <p:cNvSpPr/>
          <p:nvPr/>
        </p:nvSpPr>
        <p:spPr>
          <a:xfrm>
            <a:off x="35204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5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5"/>
          <p:cNvSpPr/>
          <p:nvPr/>
        </p:nvSpPr>
        <p:spPr>
          <a:xfrm>
            <a:off x="47091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5"/>
          <p:cNvSpPr/>
          <p:nvPr/>
        </p:nvSpPr>
        <p:spPr>
          <a:xfrm>
            <a:off x="53035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5"/>
          <p:cNvSpPr/>
          <p:nvPr/>
        </p:nvSpPr>
        <p:spPr>
          <a:xfrm>
            <a:off x="589788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5"/>
          <p:cNvSpPr/>
          <p:nvPr/>
        </p:nvSpPr>
        <p:spPr>
          <a:xfrm>
            <a:off x="649224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5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5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5"/>
          <p:cNvSpPr/>
          <p:nvPr/>
        </p:nvSpPr>
        <p:spPr>
          <a:xfrm>
            <a:off x="8275320" y="4389120"/>
            <a:ext cx="45720" cy="45720"/>
          </a:xfrm>
          <a:prstGeom prst="ellipse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5"/>
          <p:cNvSpPr/>
          <p:nvPr/>
        </p:nvSpPr>
        <p:spPr>
          <a:xfrm>
            <a:off x="502920" y="4114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us build this right.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5"/>
          <p:cNvSpPr/>
          <p:nvPr/>
        </p:nvSpPr>
        <p:spPr>
          <a:xfrm>
            <a:off x="502920" y="123444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are in early access. Our first working demo is at week 10. This conversation shapes what it shows.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15"/>
          <p:cNvSpPr/>
          <p:nvPr/>
        </p:nvSpPr>
        <p:spPr>
          <a:xfrm>
            <a:off x="502920" y="1755648"/>
            <a:ext cx="8321040" cy="749808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5"/>
          <p:cNvSpPr/>
          <p:nvPr/>
        </p:nvSpPr>
        <p:spPr>
          <a:xfrm>
            <a:off x="502920" y="1755648"/>
            <a:ext cx="457200" cy="7498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5"/>
          <p:cNvSpPr/>
          <p:nvPr/>
        </p:nvSpPr>
        <p:spPr>
          <a:xfrm>
            <a:off x="502920" y="1755648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5"/>
          <p:cNvSpPr/>
          <p:nvPr/>
        </p:nvSpPr>
        <p:spPr>
          <a:xfrm>
            <a:off x="1078992" y="181051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30-minute conversation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5"/>
          <p:cNvSpPr/>
          <p:nvPr/>
        </p:nvSpPr>
        <p:spPr>
          <a:xfrm>
            <a:off x="1078992" y="2121408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Walk us through your last proposal or architecture workflow. We want to understand where the pain actually lives -- before we build the wrong thing.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5"/>
          <p:cNvSpPr/>
          <p:nvPr/>
        </p:nvSpPr>
        <p:spPr>
          <a:xfrm>
            <a:off x="502920" y="2651760"/>
            <a:ext cx="8321040" cy="749808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5"/>
          <p:cNvSpPr/>
          <p:nvPr/>
        </p:nvSpPr>
        <p:spPr>
          <a:xfrm>
            <a:off x="502920" y="2651760"/>
            <a:ext cx="457200" cy="7498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5"/>
          <p:cNvSpPr/>
          <p:nvPr/>
        </p:nvSpPr>
        <p:spPr>
          <a:xfrm>
            <a:off x="502920" y="265176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5"/>
          <p:cNvSpPr/>
          <p:nvPr/>
        </p:nvSpPr>
        <p:spPr>
          <a:xfrm>
            <a:off x="1078992" y="270662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to a 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5"/>
          <p:cNvSpPr/>
          <p:nvPr/>
        </p:nvSpPr>
        <p:spPr>
          <a:xfrm>
            <a:off x="1078992" y="3017520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 will run an RFP through the tool in front of you and show the analysis output and sandbox review. Tell us what is useful and what is wrong.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5"/>
          <p:cNvSpPr/>
          <p:nvPr/>
        </p:nvSpPr>
        <p:spPr>
          <a:xfrm>
            <a:off x="502920" y="3547872"/>
            <a:ext cx="8321040" cy="749808"/>
          </a:xfrm>
          <a:prstGeom prst="rect">
            <a:avLst/>
          </a:prstGeom>
          <a:solidFill>
            <a:srgbClr val="1C3A4A"/>
          </a:solidFill>
          <a:ln cap="flat" cmpd="sng" w="9525">
            <a:solidFill>
              <a:srgbClr val="1C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5"/>
          <p:cNvSpPr/>
          <p:nvPr/>
        </p:nvSpPr>
        <p:spPr>
          <a:xfrm>
            <a:off x="502920" y="3547872"/>
            <a:ext cx="457200" cy="74980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5"/>
          <p:cNvSpPr/>
          <p:nvPr/>
        </p:nvSpPr>
        <p:spPr>
          <a:xfrm>
            <a:off x="502920" y="3547872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5"/>
          <p:cNvSpPr/>
          <p:nvPr/>
        </p:nvSpPr>
        <p:spPr>
          <a:xfrm>
            <a:off x="1078992" y="360273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Tell us your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5"/>
          <p:cNvSpPr/>
          <p:nvPr/>
        </p:nvSpPr>
        <p:spPr>
          <a:xfrm>
            <a:off x="1078992" y="3913632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Would you actually use this? Which artifact would you generate first? What would make you trust the SOW draft? We need the honest version.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3" name="Google Shape;963;p15"/>
          <p:cNvCxnSpPr/>
          <p:nvPr/>
        </p:nvCxnSpPr>
        <p:spPr>
          <a:xfrm>
            <a:off x="502920" y="4663440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4" name="Google Shape;964;p15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engniter.studio  |  Early access  |  First demo: week 10  |  Your feedback shapes what 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